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embeddedFontLst>
    <p:embeddedFont>
      <p:font typeface="Public Sans" panose="020B0604020202020204" charset="0"/>
      <p:regular r:id="rId14"/>
    </p:embeddedFont>
    <p:embeddedFont>
      <p:font typeface="Public Sans Bold" panose="020B0604020202020204" charset="0"/>
      <p:regular r:id="rId15"/>
    </p:embeddedFont>
    <p:embeddedFont>
      <p:font typeface="Public Sans Medium" panose="020B0604020202020204" charset="0"/>
      <p:regular r:id="rId16"/>
    </p:embeddedFont>
    <p:embeddedFont>
      <p:font typeface="Sora ExtraBold" panose="020B0604020202020204" charset="0"/>
      <p:regular r:id="rId17"/>
    </p:embeddedFont>
    <p:embeddedFont>
      <p:font typeface="Sora Semi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2600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study: 3,900 retail transactions analyzed to evaluate drivers of basket size, revenue, and customer value across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fundamental finding: customer basket size is uniform at ~$60. Growth must target customer acquisition and seasonal timing, not basket expansion tricks.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dataset dimensions: 18 raw columns across 3,900 transactions. Highlight the clean 3-stage analytics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data preparation steps: handling missing data via category medians, age binning, frequency transformation, and loading to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the core insight: Men generate double the revenue solely because customer acquisition counts are 2:1. Average purchase value is essentially equal ($59.54 vs $60.25).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ANOVA findings: Season is the only variable that moves ticket size, climbing from $58.41 in Summer to $61.56 in 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the subscription program: no basket lift ($59.49 vs $59.87), low penetration (27%), but minor lift in repeat rate (91.0% vs 88.4%).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category performance: Clothing ($104.3K) and Accessories ($74.2K) account for 77% of business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864553"/>
            <a:ext cx="194672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96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CUSTOMER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169067" y="864553"/>
            <a:ext cx="187012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96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RETAIL INTELLIGENCE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5156" y="1434405"/>
            <a:ext cx="8019849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100" spc="-84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0"/>
              </a:rPr>
              <a:t>Customer Shopping Behavior Analysis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65156" y="2994918"/>
            <a:ext cx="801984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kern="100" spc="-3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End-to-end analysis using Python, MySQL and Power BI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5156" y="3488630"/>
            <a:ext cx="8019849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Statistical evaluation of 3,900 customer transactions across demographic and merchandising dimensions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5156" y="4601777"/>
            <a:ext cx="2444689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48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3,900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65156" y="5255419"/>
            <a:ext cx="267328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Customers analyzed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67033" y="4601777"/>
            <a:ext cx="2216095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48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$233,081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67033" y="5255419"/>
            <a:ext cx="244468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Total revenue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40316" y="4601777"/>
            <a:ext cx="2444689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48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$59.76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40316" y="5255419"/>
            <a:ext cx="244468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Average purchase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5156" y="5850731"/>
            <a:ext cx="86294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Executive Summary &amp; Strategy Review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934123" y="863600"/>
            <a:ext cx="12700" cy="20568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5" name="Shape 13"/>
          <p:cNvSpPr/>
          <p:nvPr/>
        </p:nvSpPr>
        <p:spPr>
          <a:xfrm>
            <a:off x="3432089" y="4580830"/>
            <a:ext cx="12700" cy="885329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05372" y="4580830"/>
            <a:ext cx="12700" cy="885329"/>
          </a:xfrm>
          <a:prstGeom prst="rect">
            <a:avLst/>
          </a:prstGeom>
          <a:solidFill>
            <a:srgbClr val="A7B3B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9925"/>
            <a:ext cx="6253403" cy="311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100" spc="-112" dirty="0">
                <a:solidFill>
                  <a:srgbClr val="1B2632"/>
                </a:solidFill>
                <a:latin typeface="Sora ExtraBold" pitchFamily="34" charset="0"/>
                <a:ea typeface="Sora ExtraBold" pitchFamily="34" charset="-122"/>
                <a:cs typeface="Sora ExtraBold" pitchFamily="34" charset="0"/>
              </a:rPr>
              <a:t>Everyone spends about the same. Only the season changes it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609585" y="3937000"/>
            <a:ext cx="625340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3,900 customers</a:t>
            </a:r>
            <a:r>
              <a:rPr lang="en-US" sz="20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, </a:t>
            </a:r>
            <a:r>
              <a:rPr lang="en-US" sz="20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$233,081 total revenue</a:t>
            </a:r>
            <a:r>
              <a:rPr lang="en-US" sz="20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, </a:t>
            </a:r>
            <a:r>
              <a:rPr lang="en-US" sz="20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$59.76 average purchase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585" y="4867275"/>
            <a:ext cx="6253403" cy="1445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Gender, subscription, discounts, payment, shipping, category and age show no significant difference in spend.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Revenue gaps come from customer volume and mix, not spend per customer.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873" y="0"/>
            <a:ext cx="4693822" cy="69226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7873" y="5501878"/>
            <a:ext cx="2283363" cy="1420813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7" name="Text 4"/>
          <p:cNvSpPr/>
          <p:nvPr/>
        </p:nvSpPr>
        <p:spPr>
          <a:xfrm>
            <a:off x="7701067" y="5728891"/>
            <a:ext cx="1876973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000" kern="100" spc="-80" dirty="0">
                <a:solidFill>
                  <a:srgbClr val="0E7C86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$59.76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701067" y="6407150"/>
            <a:ext cx="208016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Average purchase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908233" y="5501878"/>
            <a:ext cx="2283462" cy="1420813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10" name="Text 7"/>
          <p:cNvSpPr/>
          <p:nvPr/>
        </p:nvSpPr>
        <p:spPr>
          <a:xfrm>
            <a:off x="10111428" y="5728891"/>
            <a:ext cx="1877073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000" kern="100" spc="-80" dirty="0">
                <a:solidFill>
                  <a:srgbClr val="0E7C86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3,900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10111428" y="6407150"/>
            <a:ext cx="208026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Customers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99722" y="6451898"/>
            <a:ext cx="78956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The question and the data behind 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83474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CORE OBJECTIVE: INFORMING ENGAGEMENT, MARKETING, AND PRODUCT STRATEGY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9585" y="1681857"/>
            <a:ext cx="2647884" cy="2021483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1914029"/>
            <a:ext cx="241928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Scope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38179" y="2354957"/>
            <a:ext cx="2190695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kern="100" spc="-64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3,900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38179" y="2940745"/>
            <a:ext cx="2190695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Customers across all 50 US states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384465" y="1681857"/>
            <a:ext cx="2647884" cy="2021483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9" name="Text 7"/>
          <p:cNvSpPr/>
          <p:nvPr/>
        </p:nvSpPr>
        <p:spPr>
          <a:xfrm>
            <a:off x="3613060" y="1914029"/>
            <a:ext cx="241928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Catalog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13060" y="2354957"/>
            <a:ext cx="2190695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kern="100" spc="-64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25 Items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13060" y="2940745"/>
            <a:ext cx="2190695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Spanning 4 primary retail categories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59346" y="1681857"/>
            <a:ext cx="2647884" cy="2021483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13" name="Text 11"/>
          <p:cNvSpPr/>
          <p:nvPr/>
        </p:nvSpPr>
        <p:spPr>
          <a:xfrm>
            <a:off x="6387940" y="1914029"/>
            <a:ext cx="241928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Demographics &amp; Sentiment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87940" y="2354957"/>
            <a:ext cx="2190695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kern="100" spc="-64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44 Yrs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87940" y="2940745"/>
            <a:ext cx="2190695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Average age · 3.75 average rating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934226" y="1681857"/>
            <a:ext cx="2647884" cy="2021483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17" name="Text 15"/>
          <p:cNvSpPr/>
          <p:nvPr/>
        </p:nvSpPr>
        <p:spPr>
          <a:xfrm>
            <a:off x="9162821" y="1914029"/>
            <a:ext cx="241928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Adoption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62821" y="2354957"/>
            <a:ext cx="2190695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kern="100" spc="-64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27% / 43%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162821" y="2940745"/>
            <a:ext cx="2190695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Subscribers vs. discount users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09585" y="4087197"/>
            <a:ext cx="32003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THREE-STAGE PIPELINE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598" y="4084340"/>
            <a:ext cx="7467512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1. Python cleaning</a:t>
            </a: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for imputation and feature engineering · </a:t>
            </a:r>
            <a:endParaRPr lang="en-US" sz="14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2. MySQL querying</a:t>
            </a: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for cohort and variance analysis · </a:t>
            </a:r>
            <a:endParaRPr lang="en-US" sz="14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3. Power BI</a:t>
            </a: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interactive executive dashboards.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08125" y="6451898"/>
            <a:ext cx="383570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Cleaning and feature engineering in Python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63154"/>
            <a:ext cx="10972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kern="100" spc="-2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Four preparation steps turn the raw sales data into model-ready features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9585" y="2072973"/>
            <a:ext cx="2514537" cy="2435721"/>
          </a:xfrm>
          <a:prstGeom prst="roundRect">
            <a:avLst>
              <a:gd name="adj" fmla="val 1330"/>
            </a:avLst>
          </a:prstGeom>
          <a:solidFill>
            <a:srgbClr val="E7EAF0"/>
          </a:solidFill>
          <a:ln/>
        </p:spPr>
      </p:sp>
      <p:sp>
        <p:nvSpPr>
          <p:cNvPr id="11" name="Text 9"/>
          <p:cNvSpPr/>
          <p:nvPr/>
        </p:nvSpPr>
        <p:spPr>
          <a:xfrm>
            <a:off x="812780" y="2147590"/>
            <a:ext cx="210814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Missing ratings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780" y="2574468"/>
            <a:ext cx="2108147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37 missing ratings (0.9%) filled with the median of their category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428914" y="3306266"/>
            <a:ext cx="2514537" cy="2435721"/>
          </a:xfrm>
          <a:prstGeom prst="roundRect">
            <a:avLst>
              <a:gd name="adj" fmla="val 1330"/>
            </a:avLst>
          </a:prstGeom>
          <a:solidFill>
            <a:srgbClr val="E7EAF0"/>
          </a:solidFill>
          <a:ln/>
        </p:spPr>
      </p:sp>
      <p:sp>
        <p:nvSpPr>
          <p:cNvPr id="14" name="Text 12"/>
          <p:cNvSpPr/>
          <p:nvPr/>
        </p:nvSpPr>
        <p:spPr>
          <a:xfrm>
            <a:off x="3632109" y="3518039"/>
            <a:ext cx="210814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Age groups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32109" y="3976310"/>
            <a:ext cx="2108147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Four quartile-based age groups: 18–31, 32–44, 45–57, 58–70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49841" y="2072972"/>
            <a:ext cx="2514537" cy="2435721"/>
          </a:xfrm>
          <a:prstGeom prst="roundRect">
            <a:avLst>
              <a:gd name="adj" fmla="val 1330"/>
            </a:avLst>
          </a:prstGeom>
          <a:solidFill>
            <a:srgbClr val="E7EAF0"/>
          </a:solidFill>
          <a:ln/>
        </p:spPr>
      </p:sp>
      <p:sp>
        <p:nvSpPr>
          <p:cNvPr id="17" name="Text 15"/>
          <p:cNvSpPr/>
          <p:nvPr/>
        </p:nvSpPr>
        <p:spPr>
          <a:xfrm>
            <a:off x="6451437" y="2147590"/>
            <a:ext cx="210814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Purchase frequency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51439" y="2508244"/>
            <a:ext cx="2108147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Purchase frequency converted to days; redundant promo code column dropped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067573" y="3306266"/>
            <a:ext cx="2514537" cy="2435721"/>
          </a:xfrm>
          <a:prstGeom prst="roundRect">
            <a:avLst>
              <a:gd name="adj" fmla="val 1330"/>
            </a:avLst>
          </a:prstGeom>
          <a:solidFill>
            <a:srgbClr val="E7EAF0"/>
          </a:solidFill>
          <a:ln/>
        </p:spPr>
      </p:sp>
      <p:sp>
        <p:nvSpPr>
          <p:cNvPr id="20" name="Text 18"/>
          <p:cNvSpPr/>
          <p:nvPr/>
        </p:nvSpPr>
        <p:spPr>
          <a:xfrm>
            <a:off x="9270768" y="3518039"/>
            <a:ext cx="210814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MySQL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70768" y="3976310"/>
            <a:ext cx="210814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Cleaned data loaded into MySQL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807629" y="6451898"/>
            <a:ext cx="38406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Men bring twice the revenue because there are twice as many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820366"/>
            <a:ext cx="5841854" cy="3429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5414863"/>
            <a:ext cx="6309262" cy="536575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Revenue breakdown: Male accounts generate 68% of total gross sales ($157,890 vs. $75,191).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375936" y="1838821"/>
            <a:ext cx="4206174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100" spc="-112" dirty="0">
                <a:solidFill>
                  <a:srgbClr val="0E7C86"/>
                </a:solidFill>
                <a:latin typeface="Sora ExtraBold" pitchFamily="34" charset="0"/>
                <a:ea typeface="Sora ExtraBold" pitchFamily="34" charset="-122"/>
                <a:cs typeface="Sora ExtraBold" pitchFamily="34" charset="0"/>
              </a:rPr>
              <a:t>$59.54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7375936" y="2709168"/>
            <a:ext cx="420617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Male average spend per purchase (2,652 customers · 68%)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75936" y="3423146"/>
            <a:ext cx="4206174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100" spc="-112" dirty="0">
                <a:solidFill>
                  <a:srgbClr val="1B2632"/>
                </a:solidFill>
                <a:latin typeface="Sora ExtraBold" pitchFamily="34" charset="0"/>
                <a:ea typeface="Sora ExtraBold" pitchFamily="34" charset="-122"/>
                <a:cs typeface="Sora ExtraBold" pitchFamily="34" charset="0"/>
              </a:rPr>
              <a:t>$60.25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7375936" y="4293493"/>
            <a:ext cx="420617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Female average spend per purchase (1,248 customers · 32%)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75936" y="4921746"/>
            <a:ext cx="4206174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Spend difference is statistically indistinguishable ($0.71 delta). The commercial revenue gap is purely an acquisition imbalance, not purchasing appetite.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1805744" y="6451898"/>
            <a:ext cx="38595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Season is the only factor that moves spend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699915"/>
            <a:ext cx="6349841" cy="34306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5296098"/>
            <a:ext cx="6659694" cy="536575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Statistically significant seasonal shift (ANOVA p = 0.011): Fall peak exceeds Summer trough by ~5% ($3.15 per transaction).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726368" y="2104926"/>
            <a:ext cx="1864373" cy="2098774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6" name="Text 3"/>
          <p:cNvSpPr/>
          <p:nvPr/>
        </p:nvSpPr>
        <p:spPr>
          <a:xfrm>
            <a:off x="7904163" y="2285583"/>
            <a:ext cx="1508782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PEAK VS. TROUGH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04163" y="2790867"/>
            <a:ext cx="15087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100" spc="-4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+5.4%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904163" y="3224907"/>
            <a:ext cx="1508782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Fall spend elevation over Summer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717737" y="2104926"/>
            <a:ext cx="1864373" cy="2098774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10" name="Text 7"/>
          <p:cNvSpPr/>
          <p:nvPr/>
        </p:nvSpPr>
        <p:spPr>
          <a:xfrm>
            <a:off x="9895533" y="2285583"/>
            <a:ext cx="168657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SIGNIFICANCE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895533" y="2592827"/>
            <a:ext cx="15087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100" spc="-4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 = 0.011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895533" y="3026866"/>
            <a:ext cx="1508782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Only tested factor achieving p &lt; 0.05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26368" y="4356100"/>
            <a:ext cx="3855743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Colder months lift purchase values as heavier garments and accessories enter the basket, representing the sole verifiable demand elasticity in the business.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1809216" y="6451898"/>
            <a:ext cx="3824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Subscribers spend no more, and only 27% subscribe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280616"/>
            <a:ext cx="5257668" cy="4967784"/>
          </a:xfrm>
          <a:prstGeom prst="roundRect">
            <a:avLst>
              <a:gd name="adj" fmla="val 652"/>
            </a:avLst>
          </a:prstGeom>
          <a:solidFill>
            <a:srgbClr val="E7EAF0"/>
          </a:solidFill>
          <a:ln/>
        </p:spPr>
      </p:sp>
      <p:sp>
        <p:nvSpPr>
          <p:cNvPr id="4" name="Text 2"/>
          <p:cNvSpPr/>
          <p:nvPr/>
        </p:nvSpPr>
        <p:spPr>
          <a:xfrm>
            <a:off x="888978" y="1562874"/>
            <a:ext cx="497827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FINANCIAL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88978" y="1904107"/>
            <a:ext cx="4698882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100" spc="-112" dirty="0">
                <a:solidFill>
                  <a:srgbClr val="0E7C86"/>
                </a:solidFill>
                <a:latin typeface="Sora ExtraBold" pitchFamily="34" charset="0"/>
                <a:ea typeface="Sora ExtraBold" pitchFamily="34" charset="-122"/>
                <a:cs typeface="Sora ExtraBold" pitchFamily="34" charset="0"/>
              </a:rPr>
              <a:t>$59.49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88978" y="2774454"/>
            <a:ext cx="49782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Subscriber average purchase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88978" y="3162995"/>
            <a:ext cx="4698882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Non-subscribers spend $59.87</a:t>
            </a: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(p = 0.66). Despite receiving mandatory discount promotions, subscribers generate zero incremental basket value.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88978" y="4090988"/>
            <a:ext cx="4698882" cy="1340743"/>
          </a:xfrm>
          <a:prstGeom prst="roundRect">
            <a:avLst>
              <a:gd name="adj" fmla="val 2415"/>
            </a:avLst>
          </a:prstGeom>
          <a:solidFill>
            <a:srgbClr val="FCF2B5"/>
          </a:solidFill>
          <a:ln/>
        </p:spPr>
      </p:sp>
      <p:sp>
        <p:nvSpPr>
          <p:cNvPr id="9" name="Text 7"/>
          <p:cNvSpPr/>
          <p:nvPr/>
        </p:nvSpPr>
        <p:spPr>
          <a:xfrm>
            <a:off x="1104872" y="4360863"/>
            <a:ext cx="4267093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Margin Leakage Risk:</a:t>
            </a: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Program discounts erode unit margin without providing compensatory transaction expansion.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24442" y="1280616"/>
            <a:ext cx="5257668" cy="4967784"/>
          </a:xfrm>
          <a:prstGeom prst="roundRect">
            <a:avLst>
              <a:gd name="adj" fmla="val 652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234" y="1588274"/>
            <a:ext cx="495287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RETENTION &amp; PENETRATION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234" y="1929507"/>
            <a:ext cx="4648084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100" spc="-112" dirty="0">
                <a:solidFill>
                  <a:srgbClr val="1B2632"/>
                </a:solidFill>
                <a:latin typeface="Sora ExtraBold" pitchFamily="34" charset="0"/>
                <a:ea typeface="Sora ExtraBold" pitchFamily="34" charset="-122"/>
                <a:cs typeface="Sora ExtraBold" pitchFamily="34" charset="0"/>
              </a:rPr>
              <a:t>27%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6629234" y="2799854"/>
            <a:ext cx="495287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Program subscription penetration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29234" y="3188395"/>
            <a:ext cx="4648084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Repeat Buyer Rate:</a:t>
            </a: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Subscribers achieve </a:t>
            </a: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91.0%</a:t>
            </a: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repeat purchases compared to </a:t>
            </a: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88.4%</a:t>
            </a: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for non-subscribers.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29234" y="3849390"/>
            <a:ext cx="4648084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The loyalty program functions purely as a slight retention stabilizer (+2.6% repeat rate) rather than a monetization engine.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805744" y="6451898"/>
            <a:ext cx="38595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Clothing and Accessories make 77% of revenue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700709"/>
            <a:ext cx="5841854" cy="3429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5295205"/>
            <a:ext cx="6309262" cy="536575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Revenue distribution: Clothing generates 44.7% ($104.3K) and Accessories 31.8% ($74.2K), driving $178.5K of total $233.1K sales.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375936" y="2238375"/>
            <a:ext cx="2039589" cy="2098774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6" name="Text 3"/>
          <p:cNvSpPr/>
          <p:nvPr/>
        </p:nvSpPr>
        <p:spPr>
          <a:xfrm>
            <a:off x="7553731" y="2419033"/>
            <a:ext cx="186179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COMBINED SHARE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553731" y="2726276"/>
            <a:ext cx="168399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100" spc="-4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76.5%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553731" y="3160316"/>
            <a:ext cx="1683998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Clothing &amp; Accessories share of gross revenue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542521" y="2238375"/>
            <a:ext cx="2039589" cy="2098774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10" name="Text 7"/>
          <p:cNvSpPr/>
          <p:nvPr/>
        </p:nvSpPr>
        <p:spPr>
          <a:xfrm>
            <a:off x="9720317" y="2419033"/>
            <a:ext cx="1683998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CATEGORY STABILITY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720317" y="2924317"/>
            <a:ext cx="168399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100" spc="-4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#1 Rank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720317" y="3358356"/>
            <a:ext cx="1683998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Clothing ranks first across every age group and gender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375936" y="4489549"/>
            <a:ext cx="4206174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Footwear (15.5%) and Outerwear (7.9%) represent long-tail volume. Merchandising capital should concentrate on core apparel lines.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1808919" y="6451898"/>
            <a:ext cx="38277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AGE GROUPS AND PRODUCTS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312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Age groups and products are evenly matched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92592"/>
            <a:ext cx="3454314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kern="100" spc="-4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$62,143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09585" y="2352774"/>
            <a:ext cx="345431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Young Adults revenue, the largest group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368691" y="1592592"/>
            <a:ext cx="3454314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kern="100" spc="-4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$1.40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368691" y="2352774"/>
            <a:ext cx="345431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Approximate average spend difference between age groups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27797" y="1592592"/>
            <a:ext cx="3454314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kern="100" spc="-4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3.86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127797" y="2352774"/>
            <a:ext cx="345431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Top rating, Gloves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585" y="2971502"/>
            <a:ext cx="3454314" cy="3276898"/>
          </a:xfrm>
          <a:prstGeom prst="roundRect">
            <a:avLst>
              <a:gd name="adj" fmla="val 988"/>
            </a:avLst>
          </a:prstGeom>
          <a:solidFill>
            <a:srgbClr val="E7EAF0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" y="3202801"/>
            <a:ext cx="2997125" cy="187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Young Adults lead revenue ($62,143) only because they are the largest group; average spend differs by about $1.40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68691" y="2971502"/>
            <a:ext cx="3454314" cy="3276898"/>
          </a:xfrm>
          <a:prstGeom prst="roundRect">
            <a:avLst>
              <a:gd name="adj" fmla="val 988"/>
            </a:avLst>
          </a:prstGeom>
          <a:solidFill>
            <a:srgbClr val="E7EAF0"/>
          </a:solidFill>
          <a:ln/>
        </p:spPr>
      </p:sp>
      <p:sp>
        <p:nvSpPr>
          <p:cNvPr id="13" name="Text 11"/>
          <p:cNvSpPr/>
          <p:nvPr/>
        </p:nvSpPr>
        <p:spPr>
          <a:xfrm>
            <a:off x="4597285" y="3202801"/>
            <a:ext cx="2997125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Top-rated: Gloves 3.86, Sandals 3.84, Boots 3.82, Hat 3.80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27797" y="2971502"/>
            <a:ext cx="3454314" cy="3276898"/>
          </a:xfrm>
          <a:prstGeom prst="roundRect">
            <a:avLst>
              <a:gd name="adj" fmla="val 988"/>
            </a:avLst>
          </a:prstGeom>
          <a:solidFill>
            <a:srgbClr val="E7EAF0"/>
          </a:solidFill>
          <a:ln/>
        </p:spPr>
      </p:sp>
      <p:sp>
        <p:nvSpPr>
          <p:cNvPr id="15" name="Text 13"/>
          <p:cNvSpPr/>
          <p:nvPr/>
        </p:nvSpPr>
        <p:spPr>
          <a:xfrm>
            <a:off x="8356391" y="3202801"/>
            <a:ext cx="2997125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Best sellers: Jewelry, Blouse, Pants, Jacket; gaps are only a few units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838386" y="6451898"/>
            <a:ext cx="35330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040783" cy="68580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68008"/>
            <a:ext cx="643119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kern="100" spc="176" dirty="0">
                <a:solidFill>
                  <a:srgbClr val="FFFFFF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585" y="1028612"/>
            <a:ext cx="5974010" cy="1365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Spend is flat across segments; volume, mix and season drive revenue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2504392"/>
            <a:ext cx="5974010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3,900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09585" y="3157160"/>
            <a:ext cx="59740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customers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3945643"/>
            <a:ext cx="5974010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$233,081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09585" y="4598412"/>
            <a:ext cx="59740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total revenue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9585" y="5386895"/>
            <a:ext cx="5974010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$59.76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09585" y="6039664"/>
            <a:ext cx="59740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average purchase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55061" y="565468"/>
            <a:ext cx="3627049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What the data shows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061" y="1125835"/>
            <a:ext cx="3627049" cy="4911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Spend is nearly uniform across gender, subscription, discounts, payment, shipping, category and age.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Only season matters: Fall $61.56 vs Summer $58.41 (p=0.011).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Men are 68% of customers and spend the same per customer, so their revenue lead comes from volume.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Subscribers spend no more ($59.49 vs $59.87), and only 27% subscribe.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Clothing and Accessories make 77% of revenue.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867059" y="6451898"/>
            <a:ext cx="32463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258463" cy="334238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79747"/>
            <a:ext cx="5191690" cy="2275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Grow the customer base and time offers to season: spend per customer will not move on its own.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72741" y="413067"/>
            <a:ext cx="4510967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What to do next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72741" y="973435"/>
            <a:ext cx="4510967" cy="2040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Focus on customer acquisition.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Plan inventory and promotions around season.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Redefine loyalty tiers by quartiles: Loyal covers 80% of customers today.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Test discount and subscription changes.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3799582"/>
            <a:ext cx="10972526" cy="2094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Use top-rated and best-selling products (Gloves, Sandals, Boots, Hat; Blouse, Pants, Jewelry) in campaigns, but expect small lifts.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Review the Outerwear assortment: 7.9% of revenue, lowest average spend ($57.17), and only two items.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Skip segment-specific pricing, payment and shipping changes, since none of them moves spend.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Next data: add purchase dates and an online/offline flag.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Limitation: one purchase per customer and near-uniform data, so real customers may differ.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40668" y="6451898"/>
            <a:ext cx="351027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9</TotalTime>
  <Words>1167</Words>
  <Application>Microsoft Office PowerPoint</Application>
  <PresentationFormat>Widescreen</PresentationFormat>
  <Paragraphs>149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Public Sans Bold</vt:lpstr>
      <vt:lpstr>Sora SemiBold</vt:lpstr>
      <vt:lpstr>Public Sans</vt:lpstr>
      <vt:lpstr>Public Sans Medium</vt:lpstr>
      <vt:lpstr>Sora ExtraBold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Akanksha Chauhan</cp:lastModifiedBy>
  <cp:revision>2</cp:revision>
  <dcterms:created xsi:type="dcterms:W3CDTF">2026-10-22T11:17:27Z</dcterms:created>
  <dcterms:modified xsi:type="dcterms:W3CDTF">2026-10-22T11:27:22Z</dcterms:modified>
</cp:coreProperties>
</file>